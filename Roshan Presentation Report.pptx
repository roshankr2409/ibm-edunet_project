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37"/>
  </p:notesMasterIdLst>
  <p:sldIdLst>
    <p:sldId id="256" r:id="rId5"/>
    <p:sldId id="2146847054" r:id="rId6"/>
    <p:sldId id="262" r:id="rId7"/>
    <p:sldId id="263" r:id="rId8"/>
    <p:sldId id="265" r:id="rId9"/>
    <p:sldId id="266" r:id="rId10"/>
    <p:sldId id="2146847057" r:id="rId11"/>
    <p:sldId id="2146847058" r:id="rId12"/>
    <p:sldId id="2146847059" r:id="rId13"/>
    <p:sldId id="2146847062" r:id="rId14"/>
    <p:sldId id="2146847063" r:id="rId15"/>
    <p:sldId id="2146847064" r:id="rId16"/>
    <p:sldId id="2146847065" r:id="rId17"/>
    <p:sldId id="2146847066" r:id="rId18"/>
    <p:sldId id="2146847067" r:id="rId19"/>
    <p:sldId id="2146847068" r:id="rId20"/>
    <p:sldId id="2146847069" r:id="rId21"/>
    <p:sldId id="2146847070" r:id="rId22"/>
    <p:sldId id="2146847071" r:id="rId23"/>
    <p:sldId id="2146847072" r:id="rId24"/>
    <p:sldId id="2146847073" r:id="rId25"/>
    <p:sldId id="2146847074" r:id="rId26"/>
    <p:sldId id="2146847075" r:id="rId27"/>
    <p:sldId id="268" r:id="rId28"/>
    <p:sldId id="2146847055" r:id="rId29"/>
    <p:sldId id="2146847077" r:id="rId30"/>
    <p:sldId id="2146847079" r:id="rId31"/>
    <p:sldId id="2146847080" r:id="rId32"/>
    <p:sldId id="2146847081" r:id="rId33"/>
    <p:sldId id="2146847078" r:id="rId34"/>
    <p:sldId id="269" r:id="rId35"/>
    <p:sldId id="25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70D75F-FEAE-46A8-B0AF-A04481A67E2F}" v="1" dt="2026-02-06T14:37:41.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9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han Kumar" userId="ade961b8d1c21ac2" providerId="LiveId" clId="{F3F641C7-486F-4528-8F77-C0BEF9640115}"/>
    <pc:docChg chg="modSld">
      <pc:chgData name="Roshan Kumar" userId="ade961b8d1c21ac2" providerId="LiveId" clId="{F3F641C7-486F-4528-8F77-C0BEF9640115}" dt="2026-02-06T14:37:41.105" v="45"/>
      <pc:docMkLst>
        <pc:docMk/>
      </pc:docMkLst>
      <pc:sldChg chg="modSp mod">
        <pc:chgData name="Roshan Kumar" userId="ade961b8d1c21ac2" providerId="LiveId" clId="{F3F641C7-486F-4528-8F77-C0BEF9640115}" dt="2026-02-06T14:37:41.105" v="45"/>
        <pc:sldMkLst>
          <pc:docMk/>
          <pc:sldMk cId="3183315129" sldId="268"/>
        </pc:sldMkLst>
        <pc:spChg chg="mod">
          <ac:chgData name="Roshan Kumar" userId="ade961b8d1c21ac2" providerId="LiveId" clId="{F3F641C7-486F-4528-8F77-C0BEF9640115}" dt="2026-02-06T14:37:41.105" v="45"/>
          <ac:spMkLst>
            <pc:docMk/>
            <pc:sldMk cId="3183315129" sldId="268"/>
            <ac:spMk id="2" creationId="{005E46AB-32C4-4B57-A2B1-50738A64BE1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2/6/2026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2/6/2026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2/6/2026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2/6/2026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2/6/2026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2/6/2026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2/6/2026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2/6/2026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2/6/2026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2/6/2026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a:bodyPr>
          <a:lstStyle/>
          <a:p>
            <a:pPr algn="ctr"/>
            <a:r>
              <a:rPr lang="en-US" sz="2000" b="1" dirty="0">
                <a:solidFill>
                  <a:schemeClr val="accent1"/>
                </a:solidFill>
                <a:latin typeface="Arial"/>
                <a:cs typeface="Arial"/>
              </a:rPr>
              <a:t>Tracking maternal health progress toward </a:t>
            </a:r>
            <a:r>
              <a:rPr lang="en-US" sz="2000" b="1" dirty="0" err="1">
                <a:solidFill>
                  <a:schemeClr val="accent1"/>
                </a:solidFill>
                <a:latin typeface="Arial"/>
                <a:cs typeface="Arial"/>
              </a:rPr>
              <a:t>sdg</a:t>
            </a:r>
            <a:r>
              <a:rPr lang="en-US" sz="2000" b="1" dirty="0">
                <a:solidFill>
                  <a:schemeClr val="accent1"/>
                </a:solidFill>
                <a:latin typeface="Arial"/>
                <a:cs typeface="Arial"/>
              </a:rPr>
              <a:t> 3.1</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IBM EDUNET PROJECT</a:t>
            </a:r>
          </a:p>
        </p:txBody>
      </p:sp>
      <p:sp>
        <p:nvSpPr>
          <p:cNvPr id="4" name="TextBox 3"/>
          <p:cNvSpPr txBox="1"/>
          <p:nvPr/>
        </p:nvSpPr>
        <p:spPr>
          <a:xfrm>
            <a:off x="3117529" y="4586365"/>
            <a:ext cx="7980183" cy="70788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r>
              <a:rPr lang="en-US" sz="2000" b="1" dirty="0">
                <a:solidFill>
                  <a:schemeClr val="accent1">
                    <a:lumMod val="75000"/>
                  </a:schemeClr>
                </a:solidFill>
                <a:latin typeface="Arial"/>
                <a:cs typeface="Arial"/>
              </a:rPr>
              <a:t>1.Roshan Kumar– CSE Department, </a:t>
            </a:r>
            <a:r>
              <a:rPr lang="en-US" sz="2000" b="1" dirty="0" err="1">
                <a:solidFill>
                  <a:schemeClr val="accent1">
                    <a:lumMod val="75000"/>
                  </a:schemeClr>
                </a:solidFill>
                <a:latin typeface="Arial"/>
                <a:cs typeface="Arial"/>
              </a:rPr>
              <a:t>Haridwar</a:t>
            </a:r>
            <a:r>
              <a:rPr lang="en-US" sz="2000" b="1" dirty="0">
                <a:solidFill>
                  <a:schemeClr val="accent1">
                    <a:lumMod val="75000"/>
                  </a:schemeClr>
                </a:solidFill>
                <a:latin typeface="Arial"/>
                <a:cs typeface="Arial"/>
              </a:rPr>
              <a:t> University</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a:t>
            </a:r>
            <a:endParaRPr lang="en-US" dirty="0">
              <a:latin typeface="Arial"/>
              <a:cs typeface="Arial"/>
            </a:endParaRP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 </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fontScale="85000" lnSpcReduction="10000"/>
          </a:bodyPr>
          <a:lstStyle/>
          <a:p>
            <a:endParaRPr lang="en-US" dirty="0"/>
          </a:p>
          <a:p>
            <a:pPr marL="0" indent="0">
              <a:buNone/>
            </a:pPr>
            <a:r>
              <a:rPr lang="en-US" dirty="0"/>
              <a:t>Sustainable Development Goal </a:t>
            </a:r>
            <a:r>
              <a:rPr lang="en-US" b="1" dirty="0"/>
              <a:t>SDG 3.1</a:t>
            </a:r>
            <a:r>
              <a:rPr lang="en-US" dirty="0"/>
              <a:t> aims to reduce the </a:t>
            </a:r>
            <a:r>
              <a:rPr lang="en-US" b="1" dirty="0"/>
              <a:t>global maternal mortality ratio (MMR)</a:t>
            </a:r>
            <a:r>
              <a:rPr lang="en-US" dirty="0"/>
              <a:t> to </a:t>
            </a:r>
            <a:r>
              <a:rPr lang="en-US" b="1" dirty="0"/>
              <a:t>less than 70 per 100,000 live births by 2030</a:t>
            </a:r>
            <a:r>
              <a:rPr lang="en-US" dirty="0"/>
              <a:t>.</a:t>
            </a:r>
          </a:p>
          <a:p>
            <a:pPr marL="0" indent="0">
              <a:buNone/>
            </a:pPr>
            <a:r>
              <a:rPr lang="en-US" dirty="0"/>
              <a:t>Despite continuous global health initiatives, maternal mortality remains highly uneven across countries and income groups. Many developing nations continue to face high maternal death rates due to gaps in healthcare access, lack of skilled birth attendants, adolescent pregnancies, and insufficient healthcare funding.</a:t>
            </a:r>
          </a:p>
          <a:p>
            <a:pPr marL="0" indent="0">
              <a:buNone/>
            </a:pPr>
            <a:r>
              <a:rPr lang="en-US" dirty="0"/>
              <a:t>Monitoring progress toward SDG 3.1 requires analyzing multiple health indicators simultaneously, including:</a:t>
            </a:r>
          </a:p>
          <a:p>
            <a:r>
              <a:rPr lang="en-US" dirty="0"/>
              <a:t>Maternal Mortality Ratio (MMR)</a:t>
            </a:r>
          </a:p>
          <a:p>
            <a:r>
              <a:rPr lang="en-US" dirty="0"/>
              <a:t>Antenatal Care Coverage</a:t>
            </a:r>
          </a:p>
          <a:p>
            <a:r>
              <a:rPr lang="en-US" dirty="0"/>
              <a:t>Births Attended by Skilled Health Personnel</a:t>
            </a:r>
          </a:p>
          <a:p>
            <a:r>
              <a:rPr lang="en-US" dirty="0"/>
              <a:t>Adolescent Birth Rate</a:t>
            </a:r>
          </a:p>
          <a:p>
            <a:r>
              <a:rPr lang="en-US" dirty="0"/>
              <a:t>Healthcare Expenditure</a:t>
            </a:r>
          </a:p>
          <a:p>
            <a:pPr marL="0" indent="0">
              <a:buNone/>
            </a:pPr>
            <a:r>
              <a:rPr lang="en-US" dirty="0"/>
              <a:t>However, the available data is scattered, complex, and difficult to interpret without proper analytics.</a:t>
            </a:r>
          </a:p>
          <a:p>
            <a:pPr marL="0" indent="0">
              <a:buNone/>
            </a:pPr>
            <a:r>
              <a:rPr lang="en-US" b="1" dirty="0"/>
              <a:t>The challenge:</a:t>
            </a:r>
            <a:br>
              <a:rPr lang="en-US" dirty="0"/>
            </a:br>
            <a:r>
              <a:rPr lang="en-US" dirty="0"/>
              <a:t>To perform data-driven analysis that identifies patterns, trends, and key factors influencing maternal health outcomes across countries.</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562470"/>
            <a:ext cx="11613485" cy="5088881"/>
          </a:xfrm>
        </p:spPr>
        <p:txBody>
          <a:bodyPr vert="horz" lIns="91440" tIns="45720" rIns="91440" bIns="45720" rtlCol="0" anchor="ctr">
            <a:noAutofit/>
          </a:bodyPr>
          <a:lstStyle/>
          <a:p>
            <a:pPr marL="0" indent="0">
              <a:buNone/>
            </a:pPr>
            <a:r>
              <a:rPr lang="en-US" sz="1100" b="1" dirty="0"/>
              <a:t>System Components</a:t>
            </a:r>
            <a:endParaRPr lang="en-US" sz="1100" dirty="0"/>
          </a:p>
          <a:p>
            <a:pPr marL="0" indent="0">
              <a:buNone/>
            </a:pPr>
            <a:r>
              <a:rPr lang="en-US" sz="1100" b="1" dirty="0"/>
              <a:t>1. Data Collection</a:t>
            </a:r>
            <a:endParaRPr lang="en-US" sz="1100" dirty="0"/>
          </a:p>
          <a:p>
            <a:r>
              <a:rPr lang="en-US" sz="1100" dirty="0"/>
              <a:t>AI </a:t>
            </a:r>
            <a:r>
              <a:rPr lang="en-US" sz="1100" dirty="0" err="1"/>
              <a:t>Kosh</a:t>
            </a:r>
            <a:r>
              <a:rPr lang="en-US" sz="1100" dirty="0"/>
              <a:t> SDG National Indicator Framework dataset:</a:t>
            </a:r>
          </a:p>
          <a:p>
            <a:r>
              <a:rPr lang="en-US" sz="1100" dirty="0"/>
              <a:t>Maternal mortality statistics</a:t>
            </a:r>
          </a:p>
          <a:p>
            <a:r>
              <a:rPr lang="en-US" sz="1100" dirty="0"/>
              <a:t>Healthcare infrastructure indicators</a:t>
            </a:r>
          </a:p>
          <a:p>
            <a:r>
              <a:rPr lang="en-US" sz="1100" dirty="0"/>
              <a:t>Demographic &amp; expenditure data</a:t>
            </a:r>
          </a:p>
          <a:p>
            <a:pPr marL="0" indent="0">
              <a:buNone/>
            </a:pPr>
            <a:r>
              <a:rPr lang="en-US" sz="1100" b="1" dirty="0"/>
              <a:t>2. Data Preprocessing</a:t>
            </a:r>
            <a:endParaRPr lang="en-US" sz="1100" dirty="0"/>
          </a:p>
          <a:p>
            <a:r>
              <a:rPr lang="en-US" sz="1100" dirty="0"/>
              <a:t>Handle missing &amp; inconsistent values</a:t>
            </a:r>
          </a:p>
          <a:p>
            <a:r>
              <a:rPr lang="en-US" sz="1100" dirty="0"/>
              <a:t>Filter key maternal health indicators</a:t>
            </a:r>
          </a:p>
          <a:p>
            <a:r>
              <a:rPr lang="en-US" sz="1100" dirty="0"/>
              <a:t>Standardize country/year formats</a:t>
            </a:r>
          </a:p>
          <a:p>
            <a:r>
              <a:rPr lang="en-US" sz="1100" dirty="0"/>
              <a:t>Create derived metrics</a:t>
            </a:r>
          </a:p>
          <a:p>
            <a:pPr marL="0" indent="0">
              <a:buNone/>
            </a:pPr>
            <a:r>
              <a:rPr lang="en-US" sz="1100" b="1" dirty="0"/>
              <a:t>3. Data Analysis &amp; Visualization</a:t>
            </a:r>
            <a:endParaRPr lang="en-US" sz="1100" dirty="0"/>
          </a:p>
          <a:p>
            <a:r>
              <a:rPr lang="en-US" sz="1100" dirty="0"/>
              <a:t>Year-wise trend analysis</a:t>
            </a:r>
          </a:p>
          <a:p>
            <a:r>
              <a:rPr lang="en-US" sz="1100" dirty="0"/>
              <a:t>Country &amp; regional comparisons</a:t>
            </a:r>
          </a:p>
          <a:p>
            <a:r>
              <a:rPr lang="en-US" sz="1100" dirty="0"/>
              <a:t>Indicator correlation analysis</a:t>
            </a:r>
          </a:p>
          <a:p>
            <a:r>
              <a:rPr lang="en-US" sz="1100" dirty="0"/>
              <a:t>Dashboard visualizations</a:t>
            </a:r>
          </a:p>
          <a:p>
            <a:pPr marL="0" indent="0">
              <a:buNone/>
            </a:pPr>
            <a:r>
              <a:rPr lang="en-US" sz="1100" b="1" dirty="0"/>
              <a:t>4. Cloud Deployment</a:t>
            </a:r>
            <a:endParaRPr lang="en-US" sz="1100" dirty="0"/>
          </a:p>
          <a:p>
            <a:r>
              <a:rPr lang="en-US" sz="1100" dirty="0"/>
              <a:t>Implemented using </a:t>
            </a:r>
            <a:r>
              <a:rPr lang="en-US" sz="1100" b="1" dirty="0"/>
              <a:t>IBM Cloud Lite</a:t>
            </a:r>
            <a:r>
              <a:rPr lang="en-US" sz="1100" dirty="0"/>
              <a:t> for scalable data analysis.</a:t>
            </a:r>
          </a:p>
          <a:p>
            <a:pPr marL="0" indent="0">
              <a:buNone/>
            </a:pPr>
            <a:br>
              <a:rPr lang="en-US" sz="1100" dirty="0"/>
            </a:br>
            <a:endParaRPr lang="en-US" sz="1100"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1940211794"/>
              </p:ext>
            </p:extLst>
          </p:nvPr>
        </p:nvGraphicFramePr>
        <p:xfrm>
          <a:off x="581025" y="2121762"/>
          <a:ext cx="11029950" cy="2560320"/>
        </p:xfrm>
        <a:graphic>
          <a:graphicData uri="http://schemas.openxmlformats.org/drawingml/2006/table">
            <a:tbl>
              <a:tblPr firstRow="1" bandRow="1">
                <a:tableStyleId>{5C22544A-7EE6-4342-B048-85BDC9FD1C3A}</a:tableStyleId>
              </a:tblPr>
              <a:tblGrid>
                <a:gridCol w="5514975">
                  <a:extLst>
                    <a:ext uri="{9D8B030D-6E8A-4147-A177-3AD203B41FA5}">
                      <a16:colId xmlns:a16="http://schemas.microsoft.com/office/drawing/2014/main" val="4100336038"/>
                    </a:ext>
                  </a:extLst>
                </a:gridCol>
                <a:gridCol w="5514975">
                  <a:extLst>
                    <a:ext uri="{9D8B030D-6E8A-4147-A177-3AD203B41FA5}">
                      <a16:colId xmlns:a16="http://schemas.microsoft.com/office/drawing/2014/main" val="4115277332"/>
                    </a:ext>
                  </a:extLst>
                </a:gridCol>
              </a:tblGrid>
              <a:tr h="338620">
                <a:tc>
                  <a:txBody>
                    <a:bodyPr/>
                    <a:lstStyle/>
                    <a:p>
                      <a:r>
                        <a:rPr lang="en-US" dirty="0"/>
                        <a:t>Category</a:t>
                      </a:r>
                    </a:p>
                  </a:txBody>
                  <a:tcPr/>
                </a:tc>
                <a:tc>
                  <a:txBody>
                    <a:bodyPr/>
                    <a:lstStyle/>
                    <a:p>
                      <a:r>
                        <a:rPr lang="en-US" dirty="0"/>
                        <a:t>Technology</a:t>
                      </a:r>
                    </a:p>
                  </a:txBody>
                  <a:tcPr/>
                </a:tc>
                <a:extLst>
                  <a:ext uri="{0D108BD9-81ED-4DB2-BD59-A6C34878D82A}">
                    <a16:rowId xmlns:a16="http://schemas.microsoft.com/office/drawing/2014/main" val="858174801"/>
                  </a:ext>
                </a:extLst>
              </a:tr>
              <a:tr h="338620">
                <a:tc>
                  <a:txBody>
                    <a:bodyPr/>
                    <a:lstStyle/>
                    <a:p>
                      <a:r>
                        <a:rPr lang="en-US" dirty="0"/>
                        <a:t>Cloud Platform</a:t>
                      </a:r>
                    </a:p>
                  </a:txBody>
                  <a:tcPr/>
                </a:tc>
                <a:tc>
                  <a:txBody>
                    <a:bodyPr/>
                    <a:lstStyle/>
                    <a:p>
                      <a:r>
                        <a:rPr lang="en-US" dirty="0"/>
                        <a:t>IBM</a:t>
                      </a:r>
                      <a:r>
                        <a:rPr lang="en-US" baseline="0" dirty="0"/>
                        <a:t> Cloud Lite</a:t>
                      </a:r>
                      <a:endParaRPr lang="en-US" dirty="0"/>
                    </a:p>
                  </a:txBody>
                  <a:tcPr/>
                </a:tc>
                <a:extLst>
                  <a:ext uri="{0D108BD9-81ED-4DB2-BD59-A6C34878D82A}">
                    <a16:rowId xmlns:a16="http://schemas.microsoft.com/office/drawing/2014/main" val="942576279"/>
                  </a:ext>
                </a:extLst>
              </a:tr>
              <a:tr h="338620">
                <a:tc>
                  <a:txBody>
                    <a:bodyPr/>
                    <a:lstStyle/>
                    <a:p>
                      <a:r>
                        <a:rPr lang="en-US" dirty="0"/>
                        <a:t>Data</a:t>
                      </a:r>
                      <a:r>
                        <a:rPr lang="en-US" baseline="0" dirty="0"/>
                        <a:t> Analysis</a:t>
                      </a:r>
                      <a:endParaRPr lang="en-US" dirty="0"/>
                    </a:p>
                  </a:txBody>
                  <a:tcPr/>
                </a:tc>
                <a:tc>
                  <a:txBody>
                    <a:bodyPr/>
                    <a:lstStyle/>
                    <a:p>
                      <a:r>
                        <a:rPr lang="en-US" dirty="0"/>
                        <a:t>Python</a:t>
                      </a:r>
                    </a:p>
                  </a:txBody>
                  <a:tcPr/>
                </a:tc>
                <a:extLst>
                  <a:ext uri="{0D108BD9-81ED-4DB2-BD59-A6C34878D82A}">
                    <a16:rowId xmlns:a16="http://schemas.microsoft.com/office/drawing/2014/main" val="608261268"/>
                  </a:ext>
                </a:extLst>
              </a:tr>
              <a:tr h="338620">
                <a:tc>
                  <a:txBody>
                    <a:bodyPr/>
                    <a:lstStyle/>
                    <a:p>
                      <a:r>
                        <a:rPr lang="en-US" dirty="0"/>
                        <a:t>Data Processing</a:t>
                      </a:r>
                    </a:p>
                  </a:txBody>
                  <a:tcPr/>
                </a:tc>
                <a:tc>
                  <a:txBody>
                    <a:bodyPr/>
                    <a:lstStyle/>
                    <a:p>
                      <a:r>
                        <a:rPr lang="en-US" dirty="0"/>
                        <a:t>Pandas, </a:t>
                      </a:r>
                      <a:r>
                        <a:rPr lang="en-US" dirty="0" err="1"/>
                        <a:t>NumPy</a:t>
                      </a:r>
                      <a:endParaRPr lang="en-US" dirty="0"/>
                    </a:p>
                  </a:txBody>
                  <a:tcPr/>
                </a:tc>
                <a:extLst>
                  <a:ext uri="{0D108BD9-81ED-4DB2-BD59-A6C34878D82A}">
                    <a16:rowId xmlns:a16="http://schemas.microsoft.com/office/drawing/2014/main" val="2455211149"/>
                  </a:ext>
                </a:extLst>
              </a:tr>
              <a:tr h="338620">
                <a:tc>
                  <a:txBody>
                    <a:bodyPr/>
                    <a:lstStyle/>
                    <a:p>
                      <a:r>
                        <a:rPr lang="en-US" dirty="0"/>
                        <a:t>Visualization</a:t>
                      </a:r>
                    </a:p>
                  </a:txBody>
                  <a:tcPr/>
                </a:tc>
                <a:tc>
                  <a:txBody>
                    <a:bodyPr/>
                    <a:lstStyle/>
                    <a:p>
                      <a:r>
                        <a:rPr lang="en-US" dirty="0" err="1"/>
                        <a:t>Matplotlib</a:t>
                      </a:r>
                      <a:r>
                        <a:rPr lang="en-US" dirty="0"/>
                        <a:t>, </a:t>
                      </a:r>
                      <a:r>
                        <a:rPr lang="en-US" dirty="0" err="1"/>
                        <a:t>Seaborn</a:t>
                      </a:r>
                      <a:endParaRPr lang="en-US" dirty="0"/>
                    </a:p>
                  </a:txBody>
                  <a:tcPr/>
                </a:tc>
                <a:extLst>
                  <a:ext uri="{0D108BD9-81ED-4DB2-BD59-A6C34878D82A}">
                    <a16:rowId xmlns:a16="http://schemas.microsoft.com/office/drawing/2014/main" val="3441745701"/>
                  </a:ext>
                </a:extLst>
              </a:tr>
              <a:tr h="338620">
                <a:tc>
                  <a:txBody>
                    <a:bodyPr/>
                    <a:lstStyle/>
                    <a:p>
                      <a:r>
                        <a:rPr lang="en-US" dirty="0"/>
                        <a:t>Notebook Environment</a:t>
                      </a:r>
                    </a:p>
                  </a:txBody>
                  <a:tcPr/>
                </a:tc>
                <a:tc>
                  <a:txBody>
                    <a:bodyPr/>
                    <a:lstStyle/>
                    <a:p>
                      <a:r>
                        <a:rPr lang="en-US" dirty="0"/>
                        <a:t>IBM Watson Studio</a:t>
                      </a:r>
                    </a:p>
                  </a:txBody>
                  <a:tcPr/>
                </a:tc>
                <a:extLst>
                  <a:ext uri="{0D108BD9-81ED-4DB2-BD59-A6C34878D82A}">
                    <a16:rowId xmlns:a16="http://schemas.microsoft.com/office/drawing/2014/main" val="1317037669"/>
                  </a:ext>
                </a:extLst>
              </a:tr>
              <a:tr h="338620">
                <a:tc>
                  <a:txBody>
                    <a:bodyPr/>
                    <a:lstStyle/>
                    <a:p>
                      <a:r>
                        <a:rPr lang="en-US" dirty="0"/>
                        <a:t>Dataset Source</a:t>
                      </a:r>
                    </a:p>
                  </a:txBody>
                  <a:tcPr/>
                </a:tc>
                <a:tc>
                  <a:txBody>
                    <a:bodyPr/>
                    <a:lstStyle/>
                    <a:p>
                      <a:r>
                        <a:rPr lang="en-US" dirty="0"/>
                        <a:t>Data.gov.in SDG Dataset</a:t>
                      </a:r>
                    </a:p>
                  </a:txBody>
                  <a:tcPr/>
                </a:tc>
                <a:extLst>
                  <a:ext uri="{0D108BD9-81ED-4DB2-BD59-A6C34878D82A}">
                    <a16:rowId xmlns:a16="http://schemas.microsoft.com/office/drawing/2014/main" val="1334445317"/>
                  </a:ext>
                </a:extLst>
              </a:tr>
            </a:tbl>
          </a:graphicData>
        </a:graphic>
      </p:graphicFrame>
      <p:sp>
        <p:nvSpPr>
          <p:cNvPr id="11" name="TextBox 10"/>
          <p:cNvSpPr txBox="1"/>
          <p:nvPr/>
        </p:nvSpPr>
        <p:spPr>
          <a:xfrm>
            <a:off x="581025" y="1358283"/>
            <a:ext cx="5992427" cy="923330"/>
          </a:xfrm>
          <a:prstGeom prst="rect">
            <a:avLst/>
          </a:prstGeom>
          <a:noFill/>
        </p:spPr>
        <p:txBody>
          <a:bodyPr wrap="square" rtlCol="0">
            <a:spAutoFit/>
          </a:bodyPr>
          <a:lstStyle/>
          <a:p>
            <a:r>
              <a:rPr lang="en-US" b="1" dirty="0"/>
              <a:t>Cloud Platform</a:t>
            </a:r>
          </a:p>
          <a:p>
            <a:pPr marL="285750" indent="-285750">
              <a:buFont typeface="Arial" panose="020B0604020202020204" pitchFamily="34" charset="0"/>
              <a:buChar char="•"/>
            </a:pPr>
            <a:r>
              <a:rPr lang="en-US" dirty="0"/>
              <a:t>IBM Cloud Lite</a:t>
            </a:r>
          </a:p>
          <a:p>
            <a:endParaRPr lang="en-US" dirty="0"/>
          </a:p>
        </p:txBody>
      </p:sp>
      <p:sp>
        <p:nvSpPr>
          <p:cNvPr id="12" name="TextBox 11"/>
          <p:cNvSpPr txBox="1"/>
          <p:nvPr/>
        </p:nvSpPr>
        <p:spPr>
          <a:xfrm>
            <a:off x="581025" y="4989094"/>
            <a:ext cx="6288505" cy="1477328"/>
          </a:xfrm>
          <a:prstGeom prst="rect">
            <a:avLst/>
          </a:prstGeom>
          <a:noFill/>
        </p:spPr>
        <p:txBody>
          <a:bodyPr wrap="square" rtlCol="0">
            <a:spAutoFit/>
          </a:bodyPr>
          <a:lstStyle/>
          <a:p>
            <a:r>
              <a:rPr lang="en-US" b="1" dirty="0"/>
              <a:t>Why IBM Cloud?</a:t>
            </a:r>
          </a:p>
          <a:p>
            <a:pPr marL="285750" indent="-285750">
              <a:buFont typeface="Arial" panose="020B0604020202020204" pitchFamily="34" charset="0"/>
              <a:buChar char="•"/>
            </a:pPr>
            <a:r>
              <a:rPr lang="en-US" dirty="0"/>
              <a:t>Free cloud resources for students</a:t>
            </a:r>
          </a:p>
          <a:p>
            <a:pPr marL="285750" indent="-285750">
              <a:buFont typeface="Arial" panose="020B0604020202020204" pitchFamily="34" charset="0"/>
              <a:buChar char="•"/>
            </a:pPr>
            <a:r>
              <a:rPr lang="en-US" dirty="0"/>
              <a:t>Integrated data science tools</a:t>
            </a:r>
          </a:p>
          <a:p>
            <a:pPr marL="285750" indent="-285750">
              <a:buFont typeface="Arial" panose="020B0604020202020204" pitchFamily="34" charset="0"/>
              <a:buChar char="•"/>
            </a:pPr>
            <a:r>
              <a:rPr lang="en-US" dirty="0"/>
              <a:t>Easy deployment and scalability</a:t>
            </a:r>
          </a:p>
          <a:p>
            <a:pPr marL="285750" indent="-285750">
              <a:buFont typeface="Arial" panose="020B0604020202020204" pitchFamily="34" charset="0"/>
              <a:buChar char="•"/>
            </a:pPr>
            <a:r>
              <a:rPr lang="en-US" dirty="0"/>
              <a:t>Notebook-based development environment</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normAutofit fontScale="70000" lnSpcReduction="20000"/>
          </a:bodyPr>
          <a:lstStyle/>
          <a:p>
            <a:pPr marL="0" indent="0">
              <a:buNone/>
            </a:pPr>
            <a:r>
              <a:rPr lang="en-US" b="1" dirty="0"/>
              <a:t>Approach</a:t>
            </a:r>
            <a:endParaRPr lang="en-US" dirty="0"/>
          </a:p>
          <a:p>
            <a:r>
              <a:rPr lang="en-US" dirty="0"/>
              <a:t>Exploratory Data Analysis (EDA) + Statistical Correlation Modeling</a:t>
            </a:r>
          </a:p>
          <a:p>
            <a:r>
              <a:rPr lang="en-US" dirty="0"/>
              <a:t>Focus: policy insights, trend tracking, indicator relationships</a:t>
            </a:r>
          </a:p>
          <a:p>
            <a:pPr marL="0" indent="0">
              <a:buNone/>
            </a:pPr>
            <a:r>
              <a:rPr lang="en-US" b="1" dirty="0"/>
              <a:t>Key Methods</a:t>
            </a:r>
            <a:endParaRPr lang="en-US" dirty="0"/>
          </a:p>
          <a:p>
            <a:r>
              <a:rPr lang="en-US" b="1" dirty="0"/>
              <a:t>Trend Analysis:</a:t>
            </a:r>
            <a:r>
              <a:rPr lang="en-US" dirty="0"/>
              <a:t> Year-wise MMR changes, regional comparisons</a:t>
            </a:r>
          </a:p>
          <a:p>
            <a:r>
              <a:rPr lang="en-US" b="1" dirty="0"/>
              <a:t>Correlation (Pearson):</a:t>
            </a:r>
            <a:endParaRPr lang="en-US" dirty="0"/>
          </a:p>
          <a:p>
            <a:pPr lvl="1"/>
            <a:r>
              <a:rPr lang="en-US" dirty="0"/>
              <a:t>Skilled birth attendance ↔ MMR</a:t>
            </a:r>
          </a:p>
          <a:p>
            <a:pPr lvl="1"/>
            <a:r>
              <a:rPr lang="en-US" dirty="0"/>
              <a:t>Antenatal care ↔ MMR</a:t>
            </a:r>
          </a:p>
          <a:p>
            <a:pPr lvl="1"/>
            <a:r>
              <a:rPr lang="en-US" dirty="0"/>
              <a:t>Healthcare expenditure ↔ MMR</a:t>
            </a:r>
          </a:p>
          <a:p>
            <a:pPr lvl="1"/>
            <a:r>
              <a:rPr lang="en-US" dirty="0"/>
              <a:t>Adolescent birth rate ↔ MMR</a:t>
            </a:r>
          </a:p>
          <a:p>
            <a:r>
              <a:rPr lang="en-US" b="1" dirty="0"/>
              <a:t>Visualizations:</a:t>
            </a:r>
            <a:r>
              <a:rPr lang="en-US" dirty="0"/>
              <a:t> Line charts, bar charts, </a:t>
            </a:r>
            <a:r>
              <a:rPr lang="en-US" dirty="0" err="1"/>
              <a:t>heatmaps</a:t>
            </a:r>
            <a:r>
              <a:rPr lang="en-US" dirty="0"/>
              <a:t>, scatter plots</a:t>
            </a:r>
          </a:p>
          <a:p>
            <a:pPr marL="0" indent="0">
              <a:buNone/>
            </a:pPr>
            <a:r>
              <a:rPr lang="en-US" b="1" dirty="0"/>
              <a:t>IBM Cloud Deployment</a:t>
            </a:r>
            <a:endParaRPr lang="en-US" dirty="0"/>
          </a:p>
          <a:p>
            <a:r>
              <a:rPr lang="en-US" dirty="0"/>
              <a:t>IBM Cloud Lite account → Watson Studio</a:t>
            </a:r>
          </a:p>
          <a:p>
            <a:r>
              <a:rPr lang="en-US" dirty="0"/>
              <a:t>Project workspace created</a:t>
            </a:r>
          </a:p>
          <a:p>
            <a:r>
              <a:rPr lang="en-US" dirty="0"/>
              <a:t>Dataset uploaded</a:t>
            </a:r>
          </a:p>
          <a:p>
            <a:r>
              <a:rPr lang="en-US" dirty="0"/>
              <a:t>Analysis executed in </a:t>
            </a:r>
            <a:r>
              <a:rPr lang="en-US" dirty="0" err="1"/>
              <a:t>Jupyter</a:t>
            </a:r>
            <a:r>
              <a:rPr lang="en-US" dirty="0"/>
              <a:t> Notebook</a:t>
            </a:r>
          </a:p>
          <a:p>
            <a:r>
              <a:rPr lang="en-US" dirty="0"/>
              <a:t>Visual results generated</a:t>
            </a:r>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3291655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29887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2874526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3067045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2039029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3202803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980529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1006572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506779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682257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3687512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219097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22475599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877721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2346003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27243846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155207"/>
            <a:ext cx="10138298" cy="5702793"/>
          </a:xfrm>
        </p:spPr>
      </p:pic>
    </p:spTree>
    <p:extLst>
      <p:ext uri="{BB962C8B-B14F-4D97-AF65-F5344CB8AC3E}">
        <p14:creationId xmlns:p14="http://schemas.microsoft.com/office/powerpoint/2010/main" val="3526516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err="1">
                <a:solidFill>
                  <a:schemeClr val="accent1"/>
                </a:solidFill>
                <a:latin typeface="Arial"/>
                <a:ea typeface="+mj-lt"/>
                <a:cs typeface="Arial"/>
              </a:rPr>
              <a:t>Github</a:t>
            </a:r>
            <a:r>
              <a:rPr lang="en-US" sz="4400" b="1" dirty="0">
                <a:solidFill>
                  <a:schemeClr val="accent1"/>
                </a:solidFill>
                <a:latin typeface="Arial"/>
                <a:ea typeface="+mj-lt"/>
                <a:cs typeface="Arial"/>
              </a:rPr>
              <a:t> link</a:t>
            </a:r>
            <a:endParaRPr lang="en-US" dirty="0"/>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r>
              <a:rPr lang="en-US" sz="2800" b="1" u="sng" dirty="0">
                <a:solidFill>
                  <a:schemeClr val="accent2"/>
                </a:solidFill>
              </a:rPr>
              <a:t>https://github.com/roshankr2409/ibm-PROJECT/upload/main</a:t>
            </a:r>
          </a:p>
        </p:txBody>
      </p:sp>
    </p:spTree>
    <p:extLst>
      <p:ext uri="{BB962C8B-B14F-4D97-AF65-F5344CB8AC3E}">
        <p14:creationId xmlns:p14="http://schemas.microsoft.com/office/powerpoint/2010/main" val="3183315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marL="0" indent="0">
              <a:buNone/>
            </a:pPr>
            <a:endParaRPr lang="en-US" sz="2000" b="1" dirty="0"/>
          </a:p>
          <a:p>
            <a:pPr marL="0" indent="0">
              <a:buNone/>
            </a:pPr>
            <a:r>
              <a:rPr lang="en-US" sz="2000" dirty="0"/>
              <a:t>Possible improvements:</a:t>
            </a:r>
          </a:p>
          <a:p>
            <a:r>
              <a:rPr lang="en-US" sz="2000" dirty="0"/>
              <a:t>Build predictive models for future MMR trends</a:t>
            </a:r>
          </a:p>
          <a:p>
            <a:r>
              <a:rPr lang="en-US" sz="2000" dirty="0"/>
              <a:t>Create interactive dashboards using IBM </a:t>
            </a:r>
            <a:r>
              <a:rPr lang="en-US" sz="2000" dirty="0" err="1"/>
              <a:t>Cognos</a:t>
            </a:r>
            <a:endParaRPr lang="en-US" sz="2000" dirty="0"/>
          </a:p>
          <a:p>
            <a:r>
              <a:rPr lang="en-US" sz="2000" dirty="0"/>
              <a:t>Expand dataset with WHO and World Bank data</a:t>
            </a:r>
          </a:p>
          <a:p>
            <a:r>
              <a:rPr lang="en-US" sz="2000" dirty="0"/>
              <a:t>Develop real-time policy monitoring tools</a:t>
            </a:r>
          </a:p>
          <a:p>
            <a:r>
              <a:rPr lang="en-US" sz="2000" dirty="0"/>
              <a:t>Integrate AI forecasting models</a:t>
            </a:r>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IBM Certification</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2701" y="1308672"/>
            <a:ext cx="8744287" cy="5404802"/>
          </a:xfrm>
        </p:spPr>
      </p:pic>
    </p:spTree>
    <p:extLst>
      <p:ext uri="{BB962C8B-B14F-4D97-AF65-F5344CB8AC3E}">
        <p14:creationId xmlns:p14="http://schemas.microsoft.com/office/powerpoint/2010/main" val="3282552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IBM Certification</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2701" y="1318928"/>
            <a:ext cx="8744287" cy="5384290"/>
          </a:xfrm>
        </p:spPr>
      </p:pic>
    </p:spTree>
    <p:extLst>
      <p:ext uri="{BB962C8B-B14F-4D97-AF65-F5344CB8AC3E}">
        <p14:creationId xmlns:p14="http://schemas.microsoft.com/office/powerpoint/2010/main" val="27954135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IBM Certification</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8443" y="1301750"/>
            <a:ext cx="8732803" cy="5418646"/>
          </a:xfrm>
        </p:spPr>
      </p:pic>
    </p:spTree>
    <p:extLst>
      <p:ext uri="{BB962C8B-B14F-4D97-AF65-F5344CB8AC3E}">
        <p14:creationId xmlns:p14="http://schemas.microsoft.com/office/powerpoint/2010/main" val="11404480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IBM Certification</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1986" y="1301750"/>
            <a:ext cx="7165715" cy="5418646"/>
          </a:xfrm>
        </p:spPr>
      </p:pic>
    </p:spTree>
    <p:extLst>
      <p:ext uri="{BB962C8B-B14F-4D97-AF65-F5344CB8AC3E}">
        <p14:creationId xmlns:p14="http://schemas.microsoft.com/office/powerpoint/2010/main" val="1988115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0" indent="0">
              <a:buNone/>
            </a:pPr>
            <a:r>
              <a:rPr lang="en-US" sz="2000" dirty="0"/>
              <a:t>This project successfully analyzed global maternal health indicators to evaluate progress toward SDG 3.1.</a:t>
            </a:r>
          </a:p>
          <a:p>
            <a:pPr marL="0" indent="0">
              <a:buNone/>
            </a:pPr>
            <a:r>
              <a:rPr lang="en-US" sz="2000" b="1" dirty="0"/>
              <a:t>Key Findings</a:t>
            </a:r>
          </a:p>
          <a:p>
            <a:r>
              <a:rPr lang="en-US" sz="2000" dirty="0"/>
              <a:t>Maternal mortality is strongly linked to healthcare access and funding</a:t>
            </a:r>
          </a:p>
          <a:p>
            <a:r>
              <a:rPr lang="en-US" sz="2000" dirty="0"/>
              <a:t>Skilled birth attendance is one of the most critical life-saving factors</a:t>
            </a:r>
          </a:p>
          <a:p>
            <a:r>
              <a:rPr lang="en-US" sz="2000" dirty="0"/>
              <a:t>Developing countries still face major challenges</a:t>
            </a:r>
          </a:p>
          <a:p>
            <a:r>
              <a:rPr lang="en-US" sz="2000" dirty="0"/>
              <a:t>Data analytics provides valuable insights for policymaking</a:t>
            </a:r>
          </a:p>
          <a:p>
            <a:pPr marL="0" indent="0">
              <a:buNone/>
            </a:pPr>
            <a:r>
              <a:rPr lang="en-US" sz="2000" dirty="0"/>
              <a:t>The system demonstrates how cloud-based analytics can support </a:t>
            </a:r>
            <a:r>
              <a:rPr lang="en-US" sz="2000" b="1" dirty="0"/>
              <a:t>public health monitoring and global development goals</a:t>
            </a:r>
            <a:r>
              <a:rPr lang="en-US" sz="2000" dirty="0"/>
              <a:t>.</a:t>
            </a:r>
          </a:p>
        </p:txBody>
      </p:sp>
    </p:spTree>
    <p:extLst>
      <p:ext uri="{BB962C8B-B14F-4D97-AF65-F5344CB8AC3E}">
        <p14:creationId xmlns:p14="http://schemas.microsoft.com/office/powerpoint/2010/main" val="19299898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pPr marL="305435" indent="-305435"/>
            <a:r>
              <a:rPr lang="en-IN" sz="2400" dirty="0"/>
              <a:t>watsonx.ai Studio</a:t>
            </a:r>
          </a:p>
          <a:p>
            <a:pPr marL="305435" indent="-305435"/>
            <a:r>
              <a:rPr lang="en-IN" sz="2400" dirty="0"/>
              <a:t>cloud.ibm.com</a:t>
            </a:r>
          </a:p>
          <a:p>
            <a:pPr marL="305435" indent="-305435"/>
            <a:r>
              <a:rPr lang="en-IN" sz="2400" dirty="0" err="1"/>
              <a:t>Credly</a:t>
            </a:r>
            <a:endParaRPr lang="en-IN" sz="2400" dirty="0"/>
          </a:p>
          <a:p>
            <a:pPr marL="305435" indent="-305435"/>
            <a:r>
              <a:rPr lang="en-IN" sz="2400" dirty="0"/>
              <a:t>IBM Skills Build</a:t>
            </a:r>
          </a:p>
          <a:p>
            <a:pPr marL="305435" indent="-305435"/>
            <a:r>
              <a:rPr lang="en-IN" sz="2400" dirty="0"/>
              <a:t>IBM Granite</a:t>
            </a:r>
          </a:p>
          <a:p>
            <a:pPr marL="305435" indent="-305435"/>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normAutofit/>
          </a:bodyPr>
          <a:lstStyle/>
          <a:p>
            <a:pPr algn="ctr"/>
            <a:r>
              <a:rPr lang="en-US" sz="5400" b="1" dirty="0">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http://purl.org/dc/terms/"/>
    <ds:schemaRef ds:uri="http://purl.org/dc/elements/1.1/"/>
    <ds:schemaRef ds:uri="http://schemas.microsoft.com/office/2006/documentManagement/types"/>
    <ds:schemaRef ds:uri="http://www.w3.org/XML/1998/namespace"/>
    <ds:schemaRef ds:uri="9162bd5b-4ed9-4da3-b376-05204580ba3f"/>
    <ds:schemaRef ds:uri="http://schemas.openxmlformats.org/package/2006/metadata/core-properties"/>
    <ds:schemaRef ds:uri="c0fa2617-96bd-425d-8578-e93563fe37c5"/>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Future forward</Template>
  <TotalTime>454</TotalTime>
  <Words>589</Words>
  <Application>Microsoft Office PowerPoint</Application>
  <PresentationFormat>Widescreen</PresentationFormat>
  <Paragraphs>132</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Calibri Light</vt:lpstr>
      <vt:lpstr>Franklin Gothic Book</vt:lpstr>
      <vt:lpstr>Franklin Gothic Demi</vt:lpstr>
      <vt:lpstr>Wingdings 2</vt:lpstr>
      <vt:lpstr>DividendVTI</vt:lpstr>
      <vt:lpstr>Tracking maternal health progress toward sdg 3.1</vt:lpstr>
      <vt:lpstr>OUTLINE</vt:lpstr>
      <vt:lpstr>Problem Statement</vt:lpstr>
      <vt:lpstr>Proposed Solution</vt:lpstr>
      <vt:lpstr>System  Approach</vt:lpstr>
      <vt:lpstr>Algorithm &amp; Deployment</vt:lpstr>
      <vt:lpstr>Result</vt:lpstr>
      <vt:lpstr>Result</vt:lpstr>
      <vt:lpstr>Result</vt:lpstr>
      <vt:lpstr>Result</vt:lpstr>
      <vt:lpstr>Result</vt:lpstr>
      <vt:lpstr>Result</vt:lpstr>
      <vt:lpstr>Result</vt:lpstr>
      <vt:lpstr>Result</vt:lpstr>
      <vt:lpstr>Result</vt:lpstr>
      <vt:lpstr>Result</vt:lpstr>
      <vt:lpstr>Result</vt:lpstr>
      <vt:lpstr>Result</vt:lpstr>
      <vt:lpstr>Result</vt:lpstr>
      <vt:lpstr>Result</vt:lpstr>
      <vt:lpstr>Result</vt:lpstr>
      <vt:lpstr>Result</vt:lpstr>
      <vt:lpstr>Result</vt:lpstr>
      <vt:lpstr>Github link</vt:lpstr>
      <vt:lpstr>PowerPoint Presentation</vt:lpstr>
      <vt:lpstr>IBM Certification</vt:lpstr>
      <vt:lpstr>IBM Certification</vt:lpstr>
      <vt:lpstr>IBM Certification</vt:lpstr>
      <vt:lpstr>IBM Certification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Roshan Kumar</cp:lastModifiedBy>
  <cp:revision>37</cp:revision>
  <dcterms:created xsi:type="dcterms:W3CDTF">2021-05-26T16:50:10Z</dcterms:created>
  <dcterms:modified xsi:type="dcterms:W3CDTF">2026-02-06T14:38:09Z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